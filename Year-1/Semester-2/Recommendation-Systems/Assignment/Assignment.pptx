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Open Sans SemiBold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251A1A-29F9-4FB8-BD5D-6956A42D13E9}">
  <a:tblStyle styleId="{8C251A1A-29F9-4FB8-BD5D-6956A42D13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OpenSansSemiBold-italic.fntdata"/><Relationship Id="rId27" Type="http://schemas.openxmlformats.org/officeDocument/2006/relationships/font" Target="fonts/OpenSa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f14293b9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f14293b9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f14293b9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f14293b9d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f14293b9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f14293b9d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f14293b9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f14293b9d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0" y="1548824"/>
            <a:ext cx="12192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Хибридна система за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 препоръчване на аниме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57400" y="3373635"/>
            <a:ext cx="807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Курсов проект по "Препоръчващи системи"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6550" y="5900725"/>
            <a:ext cx="3411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Изготвил: </a:t>
            </a:r>
            <a:r>
              <a:rPr b="1"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Явор Чамов</a:t>
            </a:r>
            <a:br>
              <a:rPr b="1"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Преподавател: д-р Милен Чечев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50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№: 4MI3400787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Цели на проекта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3622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Основна идея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857500"/>
            <a:ext cx="533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Изграждане на хибридна система за персонални препоръки на аниме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Практическо приложение на ключови алгоритми за препоръчване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052050" y="23622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Алгоритмични цели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052050" y="2857500"/>
            <a:ext cx="5334000" cy="26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Неперсонализирани: Популярност и претеглена средна оценка (damped mean)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Content-Based: Профилиране по жанр, тип и метаданни (TF-IDF/Cosine Similarity)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Collaborative Filtering: Сътрудничество чрез потребителска и артикулна близост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Матрична факторизация: Прогнозиране на рейтинги чрез латентни фактори (SVD)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Хибридизация: Комбиниране на моделите в обща скоринг система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53340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71725"/>
            <a:ext cx="533400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на данните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2657475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Взаимодействия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7250" y="31718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anime_ratings.dat: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Явни оценки (1-10) от потребители.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7250" y="39719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anime_history.dat: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Индиректна история на гледане (Binary interactions).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572250" y="2657475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Метаданни за аниме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572250" y="31718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anime_info.dat: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Детайлна информация за заглавията: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77050" y="397192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953250" y="3971925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Жанр и тип (Movie, TV, OVA)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77050" y="427672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53250" y="4276725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Брой епизоди и рейтинг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877050" y="458152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953250" y="4581525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Брой членове на общността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Мащаб на данните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495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Проектът обработва данни за над 5,000 активни потребители.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270510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420k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384810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55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Оценки (Ratings)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286500" y="270510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7,000+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286500" y="384810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55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Аниме заглавия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Базови неперсонализирани модели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333500" y="295275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Най-популярни заглавия: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Ранкинг базиран на общия брой взаимодействия.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333500" y="344805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Среден рейтинг: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Класация според средната оценка на потребителите.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333500" y="394335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Damped Mean Rating: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Корекция на средния рейтинг за заглавия с малко оценки.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333500" y="443865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Популярност според членовете: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Използване на 'members' метаданни за глобален ранкинг.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9908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861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9814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47675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Филтриране по съдържание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362200"/>
            <a:ext cx="560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Извличане на характеристики (Feature Engineering)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3128850"/>
            <a:ext cx="53340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Текстова обработка: Прилагане на TF-IDF върху жанрове и описания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Категорийни признаци: One-hot encoding за формат на излъчване (TV, Movie, OVA)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Числови метаданни: Нормализация на брой епизоди, общ рейтинг и брой членове в общността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Векторно представяне: Превръщане на всяко аниме в многомерен вектор от признаци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885825" y="4572000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255725" y="23622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Потребителско профилиране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255725" y="3128850"/>
            <a:ext cx="5334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Агрегиране на интереси: Създаване на потребителски профил на базата на векторите на гледаните заглавия.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Претегляне по оценка: По-високо тегло за характеристиките на анимета, оценени с 9 или 10.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Филтриране по съдържание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23622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Процес на препоръчване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3128850"/>
            <a:ext cx="53340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Изчисляване на сходство: Косинусова близост (Cosine Similarity) между потребителския вектор и вектора на артикула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Ранжиране: Подреждане на заглавията по степен на съответствие с профила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Генериране на обяснения: Възможност за аргументиране: „Препоръчано, защото харесвате Екшън и Фентъзи“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885825" y="4572000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255725" y="23622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Ключови предимства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255725" y="3128850"/>
            <a:ext cx="5334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Потребителска независимост: Препоръките не зависят от оценките на други потребители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Нишови интереси: Успешно откриване на заглавия със специфични характеристики, които не са масово популярни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62000" y="10715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Колаборативно филтриране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1071562"/>
            <a:ext cx="76200" cy="914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2366962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Силата на общността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30051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Откриване на скрити зависимости чрез потребителското поведение: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3995737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User-based CF: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Намиране на подобни потребители и техните предпочитания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4986337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Item-based CF: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Препоръчване на заглавия, подобни на вече харесаните от потребителя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7957"/>
            <a:ext cx="11049000" cy="706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Матрична факторизация (SVD)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1"/>
          <p:cNvGraphicFramePr/>
          <p:nvPr/>
        </p:nvGraphicFramePr>
        <p:xfrm>
          <a:off x="571500" y="3315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{8C251A1A-29F9-4FB8-BD5D-6956A42D13E9}</a:tableStyleId>
              </a:tblPr>
              <a:tblGrid>
                <a:gridCol w="2545850"/>
                <a:gridCol w="8503150"/>
              </a:tblGrid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B6CB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Предимство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B6CB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Описание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2F7"/>
                    </a:solidFill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02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Латентни фактори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02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Открива скрити теми (напр. "меланхолия", "епични битки") без етикети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02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Мащабируемост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02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Справя се добре с много разредени матрици на оценките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02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Регуларизация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02C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Предотвратява прекаленото напасване (overfitting) към шума в данните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9478" y="2418457"/>
            <a:ext cx="2433042" cy="32563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571500" y="3858517"/>
            <a:ext cx="2545853" cy="1905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117353" y="3858517"/>
            <a:ext cx="8503146" cy="1905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4463355"/>
            <a:ext cx="2545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117353" y="4463355"/>
            <a:ext cx="8503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5053905"/>
            <a:ext cx="2545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117353" y="5053905"/>
            <a:ext cx="8503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71500" y="5644455"/>
            <a:ext cx="2545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117353" y="5644455"/>
            <a:ext cx="8503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34924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38400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38400"/>
            <a:ext cx="34924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Индиректна обратна връзка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1000" y="27241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784227" y="3390900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История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57250" y="3905250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Използване на 'anime_history.dat' за анализ на гледаемостта.</a:t>
            </a:r>
            <a:endParaRPr/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7241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4562374" y="3390900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Top-N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4635400" y="3905250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Фокус върху генериране на списъци, а не само на точен рейтинг.</a:t>
            </a:r>
            <a:endParaRPr/>
          </a:p>
        </p:txBody>
      </p:sp>
      <p:pic>
        <p:nvPicPr>
          <p:cNvPr descr="image.png" id="216" name="Google Shape;21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7241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8340677" y="3390900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Метрики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413700" y="3905250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Оценка чрез Precision@K, Recall@K и nDCG.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4871" y="202882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Хибриден модел: Архитектура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51720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Комбиниран резултат (Weighted Hybrid) за оптимален баланс между персонализация и стабилност.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984271" y="2894388"/>
            <a:ext cx="22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Колаборативно (50%)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984221" y="3296250"/>
            <a:ext cx="22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Съдържание (30%)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984171" y="3698100"/>
            <a:ext cx="22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Популярност (20%)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6683871" y="2914650"/>
            <a:ext cx="190500" cy="190500"/>
          </a:xfrm>
          <a:prstGeom prst="roundRect">
            <a:avLst>
              <a:gd fmla="val 20000" name="adj"/>
            </a:avLst>
          </a:prstGeom>
          <a:solidFill>
            <a:srgbClr val="318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6683871" y="3314700"/>
            <a:ext cx="190500" cy="190500"/>
          </a:xfrm>
          <a:prstGeom prst="roundRect">
            <a:avLst>
              <a:gd fmla="val 20000" name="adj"/>
            </a:avLst>
          </a:prstGeom>
          <a:solidFill>
            <a:srgbClr val="48BB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6683871" y="3714750"/>
            <a:ext cx="190500" cy="190500"/>
          </a:xfrm>
          <a:prstGeom prst="roundRect">
            <a:avLst>
              <a:gd fmla="val 20000" name="adj"/>
            </a:avLst>
          </a:prstGeom>
          <a:solidFill>
            <a:srgbClr val="ECC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Хибриден модел: Архитектура</a:t>
            </a:r>
            <a:endParaRPr b="1" sz="3150">
              <a:solidFill>
                <a:srgbClr val="2D37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23622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на данни и модели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3128850"/>
            <a:ext cx="53340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Мултиизточников вход: Комбиниране на anime_ratings.dat (явни), anime_history.dat (скрити) и anime_info.dat (метаданни)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Компоненти на системата: Обединяване на неперсонализирани базисни линии, Content-Based Collaborative Filtering и Matrix Factorization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Цел на хибрида: Минимизиране на грешките (RMSE/MAE) и оптимизиране на топ-N списъците (nDCG/MAP)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885825" y="4572000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6255725" y="23622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Логика на хибридния скоринг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255725" y="3128850"/>
            <a:ext cx="5334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Тегла: Възможност за настройка на приоритета между латентни фактори, жанрово подобие и популярност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Предимство: По-добра способност за улавяне на скрити предпочитания спрямо базовите модели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6" name="Google Shape;24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1813" y="5126650"/>
            <a:ext cx="46005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Оценка на производителността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/>
          <p:nvPr/>
        </p:nvSpPr>
        <p:spPr>
          <a:xfrm>
            <a:off x="762000" y="571500"/>
            <a:ext cx="11401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Разширение: Невронно колаборативно филтриране (NeuMF)</a:t>
            </a:r>
            <a:endParaRPr/>
          </a:p>
        </p:txBody>
      </p:sp>
      <p:sp>
        <p:nvSpPr>
          <p:cNvPr id="261" name="Google Shape;261;p2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571500" y="236220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на модела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571500" y="2932800"/>
            <a:ext cx="53340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Вход: Вектори с User_ID и Anime_ID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Embedding слоеве: Латентни представяния на потребители и анимета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GMF клон (Generalized Matrix Factorization): Елемент по елемент (element-wise) произведение за улавяне на линейни зависимости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MLP клон (Multi-Layer Perceptron): Конкатенация и преминаване през плътни (dense) слоеве за нелинейни връзки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Open Sans"/>
              <a:buChar char="●"/>
            </a:pPr>
            <a:r>
              <a:rPr lang="en-US" sz="150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Изход: Прогнозиран резултат за предпочитание (preference score)</a:t>
            </a:r>
            <a:endParaRPr sz="150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7"/>
          <p:cNvSpPr txBox="1"/>
          <p:nvPr/>
        </p:nvSpPr>
        <p:spPr>
          <a:xfrm>
            <a:off x="3990736" y="2253704"/>
            <a:ext cx="4210526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Въпроси?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